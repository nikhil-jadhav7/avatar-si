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fa8ce6d0-cae4-4397-8d63-2ae058d7d580.fntdata" /><ns0:Relationship Id="rIdFont20" Type="http://schemas.openxmlformats.org/officeDocument/2006/relationships/font" Target="fonts/58402822-27e5-4a22-a01f-d74e5ba570b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19750"/>
            <a:ext cx="10668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619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2857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2050" y="623887"/>
            <a:ext cx="3774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Plus Jakarta Sans"/>
              </a:rPr>
              <a:t>COLLEGE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46114"/>
            <a:ext cx="9901237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Avatarsi: AI-Powered Study &amp; Teaching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25155"/>
            <a:ext cx="7905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Transforming Education with Intelligent Document Processing &amp; Strategic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857875"/>
            <a:ext cx="1181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048375"/>
            <a:ext cx="1181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[Your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4550" y="5857875"/>
            <a:ext cx="1690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4550" y="6048375"/>
            <a:ext cx="169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[Your Department]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4300" y="5857875"/>
            <a:ext cx="1774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4300" y="6048375"/>
            <a:ext cx="1774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Plus Jakarta Sans"/>
              </a:rPr>
              <a:t>[Presentation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80" y="2082105"/>
            <a:ext cx="4594919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080" y="2082105"/>
            <a:ext cx="4594919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22376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540472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258567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87" y="2936676"/>
            <a:ext cx="2381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365477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372867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What is Avatarsi?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2822376"/>
            <a:ext cx="63257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3098601"/>
            <a:ext cx="6024562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Java Spring Boot application enhancing education via AI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2550" y="3540472"/>
            <a:ext cx="64258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Primary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3816697"/>
            <a:ext cx="6119812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Bridging fragmented course materials and structured exam revision.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50" y="4258567"/>
            <a:ext cx="65957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Intelligent Companion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" y="4534792"/>
            <a:ext cx="512058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Extracts document concepts, coordinates schedules, and retrieves media.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73722"/>
            <a:ext cx="2524125" cy="1960066"/>
          </a:xfrm>
          <a:prstGeom prst="roundRect">
            <a:avLst>
              <a:gd name="adj" fmla="val 680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2767012"/>
            <a:ext cx="2524125" cy="2173337"/>
          </a:xfrm>
          <a:prstGeom prst="roundRect">
            <a:avLst>
              <a:gd name="adj" fmla="val 613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767012"/>
            <a:ext cx="2524125" cy="2173337"/>
          </a:xfrm>
          <a:prstGeom prst="roundRect">
            <a:avLst>
              <a:gd name="adj" fmla="val 613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2767012"/>
            <a:ext cx="2524125" cy="2173337"/>
          </a:xfrm>
          <a:prstGeom prst="roundRect">
            <a:avLst>
              <a:gd name="adj" fmla="val 613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17852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307181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3071812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475" y="3071812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329282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050" y="3186112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862" y="3186112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8775" y="3186112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CURRENT BOTTLENECKS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Challenges in Modern 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788122"/>
            <a:ext cx="271283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Information Overload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102447"/>
            <a:ext cx="21621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Massive PDFs requiring hours of tedious manual reading.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5225" y="3681412"/>
            <a:ext cx="271283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Poor Time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5225" y="3995737"/>
            <a:ext cx="21621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Disorganized exam schedules and pre-deadline cramming.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681412"/>
            <a:ext cx="271283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Resource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995737"/>
            <a:ext cx="21621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Time lost hunting for curated, syllabus-aligned video tutorials.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475" y="3681412"/>
            <a:ext cx="271283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Search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475" y="3995737"/>
            <a:ext cx="21621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Difficulty locating targeted definitions across offline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82180"/>
            <a:ext cx="52197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682180"/>
            <a:ext cx="52197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939480"/>
            <a:ext cx="52197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39480"/>
            <a:ext cx="521970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99650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99650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25380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25380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237" y="3120330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120330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337" y="4377630"/>
            <a:ext cx="1619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637" y="4377630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SYSTEM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3001267"/>
            <a:ext cx="50631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Automated Summarization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3267967"/>
            <a:ext cx="4822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Instant AI distillation of raw PDF chapters into key points.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700" y="2910780"/>
            <a:ext cx="50673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Dynamic Study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3177480"/>
            <a:ext cx="4133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Automated multi-phase roadmap generated from exam 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6400" y="4168080"/>
            <a:ext cx="53006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Smart Document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6400" y="4434780"/>
            <a:ext cx="4133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Precise concept retrieval across uploaded institutional repositories.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4700" y="4168080"/>
            <a:ext cx="50673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Curated Video Feeds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4700" y="4434780"/>
            <a:ext cx="4133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Automated YouTube discovery tuned directly to study 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382142"/>
            <a:ext cx="5105400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334767"/>
            <a:ext cx="5105400" cy="10287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334767"/>
            <a:ext cx="38100" cy="1028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63055"/>
            <a:ext cx="51054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63055"/>
            <a:ext cx="51054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FEATURE SPOTLIGHT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From Long PDFs to Quick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610742"/>
            <a:ext cx="61007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906017"/>
            <a:ext cx="4743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Apache PDFBox Ingestion: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Extracts text blocks cleanly while stripping layout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458467"/>
            <a:ext cx="4743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Plus Jakarta Sans"/>
              </a:rPr>
              <a:t>AI Intelligence Layer: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Condenses dense theoretical sections into crisp concept summaries.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525267"/>
            <a:ext cx="605075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66534"/>
                </a:solidFill>
                <a:latin typeface="Plus Jakarta Sans"/>
              </a:rPr>
              <a:t>High-Yield Productivity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772917"/>
            <a:ext cx="4705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15803D"/>
                </a:solidFill>
                <a:latin typeface="Plus Jakarta Sans"/>
              </a:rPr>
              <a:t>Converts 60-page textbook chapters into actionable review sheets in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838825"/>
            <a:ext cx="10668000" cy="485775"/>
          </a:xfrm>
          <a:prstGeom prst="roundRect">
            <a:avLst>
              <a:gd name="adj" fmla="val 1960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82192"/>
            <a:ext cx="3136850" cy="1657350"/>
          </a:xfrm>
          <a:prstGeom prst="roundRect">
            <a:avLst>
              <a:gd name="adj" fmla="val 80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27500" y="2782192"/>
            <a:ext cx="3136850" cy="1657350"/>
          </a:xfrm>
          <a:prstGeom prst="roundRect">
            <a:avLst>
              <a:gd name="adj" fmla="val 80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93000" y="2782192"/>
            <a:ext cx="3136850" cy="1657350"/>
          </a:xfrm>
          <a:prstGeom prst="roundRect">
            <a:avLst>
              <a:gd name="adj" fmla="val 80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99598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450" y="3515617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950" y="3515617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ALGORITHMIC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Structured Learning Roadmaps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5991225"/>
            <a:ext cx="9084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Chronological Division: Dynamically calculated based on target examination deadlines via Java Time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086992"/>
            <a:ext cx="3349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372742"/>
            <a:ext cx="351704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Foundation &amp; Theory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734692"/>
            <a:ext cx="277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Comprehensive reading, core definitions, and tutorial lectures.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6100" y="3086992"/>
            <a:ext cx="3349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6100" y="3372742"/>
            <a:ext cx="351704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Practice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6100" y="3734692"/>
            <a:ext cx="277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Problem sets, past papers, and mock examination drills.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1600" y="3086992"/>
            <a:ext cx="3349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1600" y="3372742"/>
            <a:ext cx="351704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Revision &amp; Polish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1600" y="3734692"/>
            <a:ext cx="277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High-yield short notes and reinforcement of weak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4119" y="2139255"/>
            <a:ext cx="5615880" cy="752475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14119" y="3044130"/>
            <a:ext cx="5615880" cy="752475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4119" y="3949005"/>
            <a:ext cx="5615880" cy="752475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14119" y="4853880"/>
            <a:ext cx="5615880" cy="752475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63055"/>
            <a:ext cx="4594919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63055"/>
            <a:ext cx="4594919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PEDAGOGICAL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Empowering Educators &amp; Teachers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3669" y="2310705"/>
            <a:ext cx="616833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Curriculum Subdivision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3669" y="2539305"/>
            <a:ext cx="61683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Paces syllabus milestones proportionally against final exams.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3669" y="3215580"/>
            <a:ext cx="616833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Instant Lecture Handouts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3669" y="3444180"/>
            <a:ext cx="61683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Converts raw slides into compact student study cheat sheets.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3669" y="4120455"/>
            <a:ext cx="616833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Flipped Classroom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3669" y="4349055"/>
            <a:ext cx="61683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Discovers matched YouTube material for pre-class assignments.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3669" y="5025330"/>
            <a:ext cx="616833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Rapid Doubt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3669" y="5253930"/>
            <a:ext cx="616833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Locates precise references across all institutional documents.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1073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21558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92043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625280"/>
            <a:ext cx="10668000" cy="5715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682180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38703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091880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79673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SYSTEM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Under the Hood: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5775" y="2705992"/>
            <a:ext cx="3821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HTML5 / CSS3 Responsive Clean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3475" y="3410842"/>
            <a:ext cx="3012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Java Spring Boot MVC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6850" y="4115692"/>
            <a:ext cx="2595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Apache PDFBox Parser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820542"/>
            <a:ext cx="3381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Custom AIService &amp; Java Time API 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2550" y="2686942"/>
            <a:ext cx="20502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Frontend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9700" y="3391792"/>
            <a:ext cx="228778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Backend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2550" y="4096642"/>
            <a:ext cx="23377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Document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4801492"/>
            <a:ext cx="21002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AI &amp; Business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196405"/>
            <a:ext cx="561588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510855"/>
            <a:ext cx="561588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625280"/>
            <a:ext cx="561588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080" y="2063055"/>
            <a:ext cx="4594919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080" y="2063055"/>
            <a:ext cx="4594919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63105"/>
            <a:ext cx="2286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777555"/>
            <a:ext cx="1809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4891980"/>
            <a:ext cx="1809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What's Next for Avatarsi?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425005"/>
            <a:ext cx="6770768" cy="228600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Advanced LLM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691705"/>
            <a:ext cx="525393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Connecting OpenAI and Gemini APIs for deeper semantic question answering.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739455"/>
            <a:ext cx="6770768" cy="2286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Automated Quiz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006155"/>
            <a:ext cx="6448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Synthesizing MCQ tests and self-assessments directly from PDF chapters.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4853880"/>
            <a:ext cx="6770768" cy="228600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Granular Progress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5120580"/>
            <a:ext cx="6448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Interactive checklist logs and syllabus completion percentage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36477"/>
            <a:ext cx="10668000" cy="1005780"/>
          </a:xfrm>
          <a:prstGeom prst="roundRect">
            <a:avLst>
              <a:gd name="adj" fmla="val 1515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536477"/>
            <a:ext cx="57150" cy="10057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847058"/>
            <a:ext cx="340355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94150" y="3847058"/>
            <a:ext cx="340355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3847058"/>
            <a:ext cx="340355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FINAL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Conclusion &amp;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2879377"/>
            <a:ext cx="110299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369A1"/>
                </a:solidFill>
                <a:latin typeface="Plus Jakarta Sans"/>
              </a:rPr>
              <a:t>“Smart learning is about working with the right tools, not just working harder.”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075658"/>
            <a:ext cx="38670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351883"/>
            <a:ext cx="304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Eliminates burnout through structured, date-aligned roadmaps.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4075658"/>
            <a:ext cx="38670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 Educators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4351883"/>
            <a:ext cx="304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Automates handout prep and empowers flipped classroom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00" y="4075658"/>
            <a:ext cx="38670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00" y="4351883"/>
            <a:ext cx="304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Unifies scattered academic materials into an actionable assistant.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57625" y="4286250"/>
            <a:ext cx="44767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57625" y="4286250"/>
            <a:ext cx="4476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95500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26695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4586287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586287"/>
            <a:ext cx="1524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33292" y="2933700"/>
            <a:ext cx="3325415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7484" y="3676650"/>
            <a:ext cx="29170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9531" y="4562475"/>
            <a:ext cx="2357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Plus Jakarta Sans"/>
              </a:rPr>
              <a:t>[your.email@college.edu]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700" y="4562475"/>
            <a:ext cx="219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Plus Jakarta Sans"/>
              </a:rPr>
              <a:t>github.com/[your-repo]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https://media.istockphoto.com/id/1487737886/photo/female-student-taking-notes-while-e-learning-in-library.jpg?s=612x612&amp;w=0&amp;k=20&amp;c=cy7kLfDQNhN3AZv7d83XrTS0liROfIMrul9RhPoW-OA=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352550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885950"/>
            <a:ext cx="7048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https://www.seekink.com/wp-content/uploads/2024/01/%E5%9B%BE%E7%89%874-3.png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085975"/>
            <a:ext cx="242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www.seekink.com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657475"/>
            <a:ext cx="6667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https://s39613.pcdn.co/wp-content/uploads/2026/06/iStock-2201440889-scaled.jpg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857500"/>
            <a:ext cx="2869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www.facultyfocus.com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429000"/>
            <a:ext cx="1006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https://media.easy-peasy.ai/17ea6809-df94-4fb3-8c4c-60dc9c9e6d7c/6fe2c0c4-d3cc-41d2-ad05-1a6c766f68fe_medium.webp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629025"/>
            <a:ext cx="202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easy-peasy.ai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